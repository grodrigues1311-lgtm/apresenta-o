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3" dt="2026-09-27T19:16:43.158"/>
    <p1510:client id="{2892AB28-313E-0754-6CEE-BE20C2EF5696}" v="179" dt="2026-09-27T20:50:12.7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Projeto Web – Cadastro de Amigos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BBF7D0"/>
                </a:solidFill>
              </a:defRPr>
            </a:pPr>
            <a:r>
              <a:t>CRUD + Sistema de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92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Apresentação do projeto e das habilidades desenvolvidas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1. Objetivo do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Apresentar o funcionamento do cadastro de amigos e do sistema de login.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22211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1F2937"/>
                </a:solidFill>
              </a:defRPr>
            </a:pPr>
            <a:r>
              <a:t>Desenvolver um sistema web para cadastrar e gerenciar amigos.</a:t>
            </a:r>
            <a:endParaRPr lang="pt-BR"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2100" b="0">
                <a:solidFill>
                  <a:srgbClr val="1F2937"/>
                </a:solidFill>
              </a:defRPr>
            </a:pPr>
            <a:r>
              <a:t>Utilizar operações de CRUD para manipular os dados.</a:t>
            </a:r>
            <a:endParaRPr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2100" b="0">
                <a:solidFill>
                  <a:srgbClr val="1F2937"/>
                </a:solidFill>
              </a:defRPr>
            </a:pPr>
            <a:r>
              <a:t>Criar um sistema de login para controlar o acesso.</a:t>
            </a:r>
            <a:endParaRPr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2100" b="0">
                <a:solidFill>
                  <a:srgbClr val="1F2937"/>
                </a:solidFill>
              </a:defRPr>
            </a:pPr>
            <a:r>
              <a:t>Integrar a aplicação com banco de dados.</a:t>
            </a:r>
            <a:endParaRPr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2100" b="0">
                <a:solidFill>
                  <a:srgbClr val="1F2937"/>
                </a:solidFill>
              </a:defRPr>
            </a:pPr>
            <a:r>
              <a:t>Aplicar organização de arquivos e conceitos de PHP.</a:t>
            </a:r>
            <a:endParaRPr>
              <a:ea typeface="Calibri"/>
              <a:cs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A34A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2. Estrutura do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Visão geral das partes apresentadas.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1719072"/>
            <a:ext cx="3026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267712"/>
            <a:ext cx="2812758" cy="5539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dirty="0" err="1"/>
              <a:t>Identificação</a:t>
            </a:r>
            <a:r>
              <a:rPr dirty="0"/>
              <a:t> do </a:t>
            </a:r>
            <a:r>
              <a:rPr dirty="0" err="1"/>
              <a:t>usuário</a:t>
            </a:r>
            <a:r>
              <a:rPr dirty="0"/>
              <a:t> antes do </a:t>
            </a:r>
            <a:endParaRPr lang="en-US" dirty="0"/>
          </a:p>
          <a:p>
            <a:pPr>
              <a:defRPr sz="1500">
                <a:solidFill>
                  <a:srgbClr val="1F2937"/>
                </a:solidFill>
              </a:defRPr>
            </a:pP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0288" y="1719072"/>
            <a:ext cx="3026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2267712"/>
            <a:ext cx="2613729" cy="5539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dirty="0" err="1"/>
              <a:t>Cadastro</a:t>
            </a:r>
            <a:r>
              <a:rPr dirty="0"/>
              <a:t>, consulta, </a:t>
            </a:r>
            <a:r>
              <a:rPr dirty="0" err="1"/>
              <a:t>alteração</a:t>
            </a:r>
            <a:r>
              <a:rPr dirty="0"/>
              <a:t> e </a:t>
            </a:r>
            <a:endParaRPr lang="en-US" dirty="0"/>
          </a:p>
          <a:p>
            <a:pPr>
              <a:defRPr sz="1500">
                <a:solidFill>
                  <a:srgbClr val="1F2937"/>
                </a:solidFill>
              </a:defRPr>
            </a:pPr>
            <a:r>
              <a:rPr dirty="0" err="1"/>
              <a:t>exclusão</a:t>
            </a:r>
            <a:r>
              <a:rPr dirty="0"/>
              <a:t> de amigos.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5448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39328" y="1719072"/>
            <a:ext cx="3026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BANCO DE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2267712"/>
            <a:ext cx="2843727" cy="5539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dirty="0" err="1"/>
              <a:t>Armazenamento</a:t>
            </a:r>
            <a:r>
              <a:rPr dirty="0"/>
              <a:t> das </a:t>
            </a:r>
            <a:r>
              <a:rPr dirty="0" err="1"/>
              <a:t>informações</a:t>
            </a:r>
            <a:r>
              <a:rPr dirty="0"/>
              <a:t> </a:t>
            </a:r>
            <a:endParaRPr lang="en-US"/>
          </a:p>
          <a:p>
            <a:pPr>
              <a:defRPr sz="1500">
                <a:solidFill>
                  <a:srgbClr val="1F2937"/>
                </a:solidFill>
              </a:defRPr>
            </a:pPr>
            <a:r>
              <a:rPr dirty="0" err="1"/>
              <a:t>utilizadas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.</a:t>
            </a: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514600" y="3977639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15768" y="4142231"/>
            <a:ext cx="3026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SESSÃO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4008" y="4599432"/>
            <a:ext cx="3250570" cy="5539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dirty="0" err="1"/>
              <a:t>Mantém</a:t>
            </a:r>
            <a:r>
              <a:rPr dirty="0"/>
              <a:t> o </a:t>
            </a:r>
            <a:r>
              <a:rPr dirty="0" err="1"/>
              <a:t>usuário</a:t>
            </a:r>
            <a:r>
              <a:rPr dirty="0"/>
              <a:t> </a:t>
            </a:r>
            <a:r>
              <a:rPr dirty="0" err="1"/>
              <a:t>identificado</a:t>
            </a:r>
            <a:r>
              <a:rPr dirty="0"/>
              <a:t> </a:t>
            </a:r>
            <a:r>
              <a:rPr dirty="0" err="1"/>
              <a:t>durante</a:t>
            </a:r>
            <a:endParaRPr lang="en-US" dirty="0" err="1"/>
          </a:p>
          <a:p>
            <a:pPr>
              <a:defRPr sz="1500">
                <a:solidFill>
                  <a:srgbClr val="1F2937"/>
                </a:solidFill>
              </a:defRPr>
            </a:pPr>
            <a:r>
              <a:rPr lang="en-US" dirty="0"/>
              <a:t> </a:t>
            </a:r>
            <a:r>
              <a:rPr dirty="0"/>
              <a:t>o </a:t>
            </a:r>
            <a:r>
              <a:rPr dirty="0" err="1"/>
              <a:t>acesso</a:t>
            </a:r>
            <a:r>
              <a:rPr dirty="0"/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977639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7" y="4142231"/>
            <a:ext cx="3026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ORGANIZAÇÃO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4690872"/>
            <a:ext cx="2767809" cy="5539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dirty="0" err="1"/>
              <a:t>Arquivos</a:t>
            </a:r>
            <a:r>
              <a:rPr dirty="0"/>
              <a:t> </a:t>
            </a:r>
            <a:r>
              <a:rPr dirty="0" err="1"/>
              <a:t>separados</a:t>
            </a:r>
            <a:r>
              <a:rPr dirty="0"/>
              <a:t> para </a:t>
            </a:r>
            <a:r>
              <a:rPr dirty="0" err="1"/>
              <a:t>facilitar</a:t>
            </a:r>
            <a:r>
              <a:rPr dirty="0"/>
              <a:t> </a:t>
            </a:r>
            <a:endParaRPr lang="en-US" dirty="0"/>
          </a:p>
          <a:p>
            <a:pPr>
              <a:defRPr sz="1500">
                <a:solidFill>
                  <a:srgbClr val="1F2937"/>
                </a:solidFill>
              </a:defRPr>
            </a:pPr>
            <a:r>
              <a:rPr dirty="0" err="1"/>
              <a:t>manutenção</a:t>
            </a:r>
            <a:r>
              <a:rPr dirty="0"/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881360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3. Sistema de Login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Etapa responsável pela identificação do usuário.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O usuário informa seu nome/usuário e senha.</a:t>
            </a:r>
          </a:p>
          <a:p>
            <a:pPr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Os dados são enviados para o arquivo responsável pelo login.</a:t>
            </a:r>
          </a:p>
          <a:p>
            <a:pPr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O sistema consulta as informações no banco de dados.</a:t>
            </a:r>
          </a:p>
          <a:p>
            <a:pPr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Com os dados corretos, uma sessão é iniciada.</a:t>
            </a:r>
          </a:p>
          <a:p>
            <a:pPr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Com dados incorretos, o acesso é recusado.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600200"/>
            <a:ext cx="34747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0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3B656B-569C-5230-CBB7-8E8D083012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22" t="6333" r="4104" b="7102"/>
          <a:stretch>
            <a:fillRect/>
          </a:stretch>
        </p:blipFill>
        <p:spPr>
          <a:xfrm>
            <a:off x="8049439" y="1714795"/>
            <a:ext cx="3054980" cy="28357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4. CRUD – Cadastro de Amigos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CRUD representa as quatro operações principais sobre os dados.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673351"/>
            <a:ext cx="933717" cy="38472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rPr dirty="0">
                <a:solidFill>
                  <a:srgbClr val="16A34A"/>
                </a:solidFill>
              </a:rPr>
              <a:t>CREATE</a:t>
            </a:r>
            <a:endParaRPr lang="en-US" dirty="0">
              <a:solidFill>
                <a:srgbClr val="16A34A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86968" y="2221991"/>
            <a:ext cx="2181495" cy="5539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dirty="0" err="1"/>
              <a:t>Cadastrar</a:t>
            </a:r>
            <a:r>
              <a:rPr dirty="0"/>
              <a:t> um novo amigo</a:t>
            </a:r>
            <a:endParaRPr lang="en-US" dirty="0"/>
          </a:p>
          <a:p>
            <a:pPr>
              <a:defRPr sz="1500">
                <a:solidFill>
                  <a:srgbClr val="1F2937"/>
                </a:solidFill>
              </a:defRPr>
            </a:pPr>
            <a:r>
              <a:rPr lang="en-US" dirty="0"/>
              <a:t> </a:t>
            </a:r>
            <a:r>
              <a:rPr dirty="0"/>
              <a:t>no banco de dados.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0876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75887" y="1673351"/>
            <a:ext cx="220370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7" y="2221991"/>
            <a:ext cx="2096279" cy="5539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dirty="0" err="1"/>
              <a:t>Consultar</a:t>
            </a:r>
            <a:r>
              <a:rPr dirty="0"/>
              <a:t> e </a:t>
            </a:r>
            <a:r>
              <a:rPr dirty="0" err="1"/>
              <a:t>visualizar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endParaRPr lang="en-US" dirty="0"/>
          </a:p>
          <a:p>
            <a:pPr>
              <a:defRPr sz="1500">
                <a:solidFill>
                  <a:srgbClr val="1F2937"/>
                </a:solidFill>
              </a:defRPr>
            </a:pPr>
            <a:r>
              <a:rPr dirty="0"/>
              <a:t>amigos </a:t>
            </a:r>
            <a:r>
              <a:rPr dirty="0" err="1"/>
              <a:t>cadastrados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673351"/>
            <a:ext cx="220370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221991"/>
            <a:ext cx="2268570" cy="5539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dirty="0" err="1"/>
              <a:t>Alterar</a:t>
            </a:r>
            <a:r>
              <a:rPr dirty="0"/>
              <a:t> </a:t>
            </a:r>
            <a:r>
              <a:rPr dirty="0" err="1"/>
              <a:t>informações</a:t>
            </a:r>
            <a:r>
              <a:rPr dirty="0"/>
              <a:t> de um</a:t>
            </a:r>
            <a:endParaRPr lang="en-US" dirty="0"/>
          </a:p>
          <a:p>
            <a:pPr>
              <a:defRPr sz="1500">
                <a:solidFill>
                  <a:srgbClr val="1F2937"/>
                </a:solidFill>
              </a:defRPr>
            </a:pPr>
            <a:r>
              <a:rPr lang="en-US" dirty="0"/>
              <a:t> </a:t>
            </a:r>
            <a:r>
              <a:rPr dirty="0"/>
              <a:t>amigo.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508760"/>
            <a:ext cx="2468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53728" y="1673351"/>
            <a:ext cx="20665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DELETE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728" y="2221991"/>
            <a:ext cx="1807674" cy="55399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dirty="0" err="1"/>
              <a:t>Excluir</a:t>
            </a:r>
            <a:r>
              <a:rPr dirty="0"/>
              <a:t> um amigo do </a:t>
            </a:r>
            <a:endParaRPr lang="en-US" dirty="0"/>
          </a:p>
          <a:p>
            <a:pPr>
              <a:defRPr sz="1500">
                <a:solidFill>
                  <a:srgbClr val="1F2937"/>
                </a:solidFill>
              </a:defRPr>
            </a:pPr>
            <a:r>
              <a:rPr dirty="0" err="1"/>
              <a:t>cadastro</a:t>
            </a:r>
            <a:r>
              <a:rPr dirty="0"/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0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872C4C-3983-1519-FBDF-0F6234A5F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3" y="3517281"/>
            <a:ext cx="10057238" cy="27413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5. CREATE e READ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Cadastro e visualização dos amigos.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3680"/>
            <a:ext cx="5166360" cy="445516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627632"/>
            <a:ext cx="4764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CREATE – Cadastrar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76272"/>
            <a:ext cx="3142014" cy="124649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dirty="0"/>
              <a:t>• </a:t>
            </a:r>
            <a:r>
              <a:rPr dirty="0" err="1"/>
              <a:t>Preencher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campos do </a:t>
            </a:r>
            <a:r>
              <a:rPr dirty="0" err="1"/>
              <a:t>formulário</a:t>
            </a:r>
            <a:br>
              <a:rPr dirty="0"/>
            </a:br>
            <a:r>
              <a:rPr dirty="0"/>
              <a:t>• </a:t>
            </a:r>
            <a:r>
              <a:rPr dirty="0" err="1"/>
              <a:t>Enviar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dados</a:t>
            </a:r>
            <a:br>
              <a:rPr dirty="0"/>
            </a:br>
            <a:r>
              <a:rPr dirty="0"/>
              <a:t>• </a:t>
            </a:r>
            <a:r>
              <a:rPr dirty="0" err="1"/>
              <a:t>Gravar</a:t>
            </a:r>
            <a:r>
              <a:rPr dirty="0"/>
              <a:t> o </a:t>
            </a:r>
            <a:r>
              <a:rPr dirty="0" err="1"/>
              <a:t>registro</a:t>
            </a:r>
            <a:r>
              <a:rPr dirty="0"/>
              <a:t> no banco de dados</a:t>
            </a:r>
            <a:br>
              <a:rPr dirty="0"/>
            </a:br>
            <a:br>
              <a:rPr dirty="0"/>
            </a:br>
            <a:endParaRPr lang="en-US" dirty="0">
              <a:ea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09360" y="1500210"/>
            <a:ext cx="5166360" cy="444339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0528" y="1627632"/>
            <a:ext cx="4764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READ – Consultar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176272"/>
            <a:ext cx="2894703" cy="124649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dirty="0"/>
              <a:t>• Buscar os registros no banco</a:t>
            </a:r>
            <a:br>
              <a:rPr dirty="0"/>
            </a:br>
            <a:r>
              <a:rPr dirty="0"/>
              <a:t>• Exibir os amigos cadastrados</a:t>
            </a:r>
            <a:br>
              <a:rPr dirty="0"/>
            </a:br>
            <a:r>
              <a:rPr dirty="0"/>
              <a:t>• Permitir a visualização dos dados</a:t>
            </a:r>
            <a:br>
              <a:rPr dirty="0"/>
            </a:br>
            <a:br>
              <a:rPr dirty="0"/>
            </a:br>
            <a:endParaRPr lang="pt-BR" dirty="0">
              <a:ea typeface="Calibri"/>
              <a:cs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0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D7FDB8F-ECDC-7D17-1FA5-24477FBD7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250" y="2928938"/>
            <a:ext cx="2918460" cy="2605405"/>
          </a:xfrm>
          <a:prstGeom prst="rect">
            <a:avLst/>
          </a:prstGeom>
        </p:spPr>
      </p:pic>
      <p:pic>
        <p:nvPicPr>
          <p:cNvPr id="13" name="Imagem 12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55A74160-2E83-89FD-57D7-3A69D697B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957" y="3211203"/>
            <a:ext cx="4888181" cy="22476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6. UPDATE e DELETE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Alteração e exclusão dos registros.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66360" cy="491744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673351"/>
            <a:ext cx="4764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UPDATE – Alterar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221991"/>
            <a:ext cx="4631016" cy="103598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dirty="0"/>
              <a:t>• Selecionar um amigo</a:t>
            </a:r>
            <a:br>
              <a:rPr dirty="0"/>
            </a:br>
            <a:r>
              <a:rPr dirty="0"/>
              <a:t>• Editar os dados</a:t>
            </a:r>
            <a:br>
              <a:rPr dirty="0"/>
            </a:br>
            <a:r>
              <a:rPr dirty="0"/>
              <a:t>• Salvar as alterações no banco</a:t>
            </a:r>
            <a:br>
              <a:rPr dirty="0"/>
            </a:br>
            <a:endParaRPr lang="pt-BR" dirty="0"/>
          </a:p>
        </p:txBody>
      </p:sp>
      <p:sp>
        <p:nvSpPr>
          <p:cNvPr id="7" name="Rounded Rectangle 6"/>
          <p:cNvSpPr/>
          <p:nvPr/>
        </p:nvSpPr>
        <p:spPr>
          <a:xfrm>
            <a:off x="6309360" y="1508760"/>
            <a:ext cx="5166360" cy="491744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0528" y="1673351"/>
            <a:ext cx="47640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DELETE – Excluir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221991"/>
            <a:ext cx="2572051" cy="124649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dirty="0"/>
              <a:t>• Selecionar o registro</a:t>
            </a:r>
            <a:br>
              <a:rPr dirty="0"/>
            </a:br>
            <a:r>
              <a:rPr dirty="0"/>
              <a:t>• Confirmar a exclusão</a:t>
            </a:r>
            <a:br>
              <a:rPr dirty="0"/>
            </a:br>
            <a:r>
              <a:rPr dirty="0"/>
              <a:t>• Remover o registro do banco</a:t>
            </a:r>
            <a:br>
              <a:rPr dirty="0"/>
            </a:br>
            <a:br>
              <a:rPr dirty="0"/>
            </a:br>
            <a:endParaRPr lang="pt-BR" dirty="0">
              <a:ea typeface="Calibri"/>
              <a:cs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0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pic>
        <p:nvPicPr>
          <p:cNvPr id="12" name="Imagem 11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518976BF-F0EB-5B05-47D8-A13E5EBBD9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57" t="15027" r="167" b="-202"/>
          <a:stretch>
            <a:fillRect/>
          </a:stretch>
        </p:blipFill>
        <p:spPr>
          <a:xfrm>
            <a:off x="1280160" y="3258311"/>
            <a:ext cx="3932564" cy="2853158"/>
          </a:xfrm>
          <a:prstGeom prst="rect">
            <a:avLst/>
          </a:prstGeom>
        </p:spPr>
      </p:pic>
      <p:pic>
        <p:nvPicPr>
          <p:cNvPr id="13" name="Imagem 12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E0EA6B5D-C18A-37D2-DB31-CA0338E71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937" y="3068320"/>
            <a:ext cx="4139565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7. Sessão e controle de acesso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Recursos usados para proteger as páginas do sistema.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6583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A sessão identifica o usuário que realizou o login.</a:t>
            </a:r>
          </a:p>
          <a:p>
            <a:pPr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Páginas protegidas podem verificar se existe uma sessão ativa.</a:t>
            </a:r>
          </a:p>
          <a:p>
            <a:pPr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O Logout encerra a sessão do usuário.</a:t>
            </a:r>
          </a:p>
          <a:p>
            <a:pPr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Sem autenticação, o sistema pode direcionar o visitante para uma página de acesso negado.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600200"/>
            <a:ext cx="33375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19288" y="1764792"/>
            <a:ext cx="293522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ARQUIVOS DE APOIO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9288" y="2313432"/>
            <a:ext cx="2935224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• conexaoBD.php</a:t>
            </a:r>
            <a:br/>
            <a:r>
              <a:t>• loginAction.php</a:t>
            </a:r>
            <a:br/>
            <a:r>
              <a:t>• logoutAction.php</a:t>
            </a:r>
            <a:br/>
            <a:r>
              <a:t>• verificarAcesso.php</a:t>
            </a:r>
            <a:br/>
            <a:r>
              <a:t>• acessoNegado.php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881360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8. Tecnologias e conceitos utilizados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1F2937"/>
                </a:solidFill>
              </a:defRPr>
            </a:pPr>
            <a:r>
              <a:t>PHP – programação do sistema e processamento dos formulários.</a:t>
            </a:r>
          </a:p>
          <a:p>
            <a:pPr>
              <a:spcAft>
                <a:spcPts val="1000"/>
              </a:spcAft>
              <a:defRPr sz="1900" b="0">
                <a:solidFill>
                  <a:srgbClr val="1F2937"/>
                </a:solidFill>
              </a:defRPr>
            </a:pPr>
            <a:r>
              <a:t>MySQL – armazenamento e consulta dos dados.</a:t>
            </a:r>
          </a:p>
          <a:p>
            <a:pPr>
              <a:spcAft>
                <a:spcPts val="1000"/>
              </a:spcAft>
              <a:defRPr sz="1900" b="0">
                <a:solidFill>
                  <a:srgbClr val="1F2937"/>
                </a:solidFill>
              </a:defRPr>
            </a:pPr>
            <a:r>
              <a:t>HTML – estrutura das páginas.</a:t>
            </a:r>
          </a:p>
          <a:p>
            <a:pPr>
              <a:spcAft>
                <a:spcPts val="1000"/>
              </a:spcAft>
              <a:defRPr sz="1900" b="0">
                <a:solidFill>
                  <a:srgbClr val="1F2937"/>
                </a:solidFill>
              </a:defRPr>
            </a:pPr>
            <a:r>
              <a:t>W3.CSS – organização e estilização das telas.</a:t>
            </a:r>
          </a:p>
          <a:p>
            <a:pPr>
              <a:spcAft>
                <a:spcPts val="1000"/>
              </a:spcAft>
              <a:defRPr sz="1900" b="0">
                <a:solidFill>
                  <a:srgbClr val="1F2937"/>
                </a:solidFill>
              </a:defRPr>
            </a:pPr>
            <a:r>
              <a:t>MySQLi – conexão e comunicação com o banco de dados.</a:t>
            </a:r>
          </a:p>
          <a:p>
            <a:pPr>
              <a:spcAft>
                <a:spcPts val="1000"/>
              </a:spcAft>
              <a:defRPr sz="1900" b="0">
                <a:solidFill>
                  <a:srgbClr val="1F2937"/>
                </a:solidFill>
              </a:defRPr>
            </a:pPr>
            <a:r>
              <a:t>Sessions – controle de login e acesso.</a:t>
            </a:r>
          </a:p>
          <a:p>
            <a:pPr>
              <a:spcAft>
                <a:spcPts val="1000"/>
              </a:spcAft>
              <a:defRPr sz="1900" b="0">
                <a:solidFill>
                  <a:srgbClr val="1F2937"/>
                </a:solidFill>
              </a:defRPr>
            </a:pPr>
            <a:r>
              <a:t>include / require / require_once – organização e reutilização de arquivos.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9. Testes realizados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B7280"/>
                </a:solidFill>
              </a:defRPr>
            </a:pPr>
            <a:r>
              <a:t>Demonstração de que as principais funções do sistema funcionam.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86968" y="1581912"/>
            <a:ext cx="3026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TESTE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69592"/>
            <a:ext cx="3215287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dirty="0"/>
              <a:t>Login </a:t>
            </a:r>
            <a:r>
              <a:rPr lang="pt-BR" dirty="0"/>
              <a:t>com</a:t>
            </a:r>
            <a:r>
              <a:rPr dirty="0"/>
              <a:t> </a:t>
            </a:r>
            <a:r>
              <a:rPr dirty="0" err="1"/>
              <a:t>usuário</a:t>
            </a:r>
            <a:r>
              <a:rPr dirty="0"/>
              <a:t> e </a:t>
            </a:r>
            <a:r>
              <a:rPr dirty="0" err="1"/>
              <a:t>senha</a:t>
            </a:r>
            <a:r>
              <a:rPr dirty="0"/>
              <a:t> </a:t>
            </a:r>
            <a:r>
              <a:rPr dirty="0" err="1"/>
              <a:t>corretos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esperado</a:t>
            </a:r>
            <a:r>
              <a:rPr dirty="0"/>
              <a:t>: </a:t>
            </a: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90288" y="1581912"/>
            <a:ext cx="3026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TESTE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2130552"/>
            <a:ext cx="3026664" cy="2697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t>Login com senha incorreta.</a:t>
            </a:r>
            <a:br/>
            <a:br/>
            <a:r>
              <a:t>Resultado esperado: acesso recusado.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41732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93608" y="1581912"/>
            <a:ext cx="30266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6A34A"/>
                </a:solidFill>
              </a:defRPr>
            </a:pPr>
            <a:r>
              <a:t>TESTE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2130552"/>
            <a:ext cx="3090911" cy="7848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500">
                <a:solidFill>
                  <a:srgbClr val="1F2937"/>
                </a:solidFill>
              </a:defRPr>
            </a:pPr>
            <a:r>
              <a:rPr dirty="0"/>
              <a:t>Logout e tentativa de acesso direto à </a:t>
            </a:r>
            <a:endParaRPr lang="pt-BR" dirty="0"/>
          </a:p>
          <a:p>
            <a:pPr>
              <a:defRPr sz="1500">
                <a:solidFill>
                  <a:srgbClr val="1F2937"/>
                </a:solidFill>
              </a:defRPr>
            </a:pPr>
            <a:r>
              <a:rPr dirty="0" err="1"/>
              <a:t>página</a:t>
            </a:r>
            <a:r>
              <a:rPr dirty="0"/>
              <a:t> </a:t>
            </a:r>
            <a:r>
              <a:rPr dirty="0" err="1"/>
              <a:t>protegida</a:t>
            </a:r>
            <a:r>
              <a:rPr dirty="0"/>
              <a:t>.</a:t>
            </a:r>
            <a:br>
              <a:rPr dirty="0"/>
            </a:b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esperado</a:t>
            </a:r>
            <a:r>
              <a:rPr dirty="0"/>
              <a:t>: </a:t>
            </a: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negado</a:t>
            </a:r>
            <a:r>
              <a:rPr dirty="0"/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0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pic>
        <p:nvPicPr>
          <p:cNvPr id="15" name="Imagem 14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397E61BB-D14F-290E-2F2A-6810242EC6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4" t="23880" r="9202" b="26096"/>
          <a:stretch>
            <a:fillRect/>
          </a:stretch>
        </p:blipFill>
        <p:spPr>
          <a:xfrm>
            <a:off x="972820" y="3204845"/>
            <a:ext cx="3042266" cy="1362717"/>
          </a:xfrm>
          <a:prstGeom prst="rect">
            <a:avLst/>
          </a:prstGeom>
        </p:spPr>
      </p:pic>
      <p:pic>
        <p:nvPicPr>
          <p:cNvPr id="16" name="Imagem 15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E55482EB-2F4B-D8E2-E184-FAD331F0F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82" y="3230245"/>
            <a:ext cx="2870835" cy="1352550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F31DFE4-4DF0-0A47-E8A6-4BBCE6DFF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1522" y="3013075"/>
            <a:ext cx="2947035" cy="18173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937"/>
                </a:solidFill>
              </a:defRPr>
            </a:pPr>
            <a:r>
              <a:t>10. Habilidades adquiridas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Criação de páginas e formulários em PHP/HTML.</a:t>
            </a:r>
          </a:p>
          <a:p>
            <a:pPr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Conexão de uma aplicação com banco de dados.</a:t>
            </a:r>
          </a:p>
          <a:p>
            <a:pPr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Utilização das operações CRUD.</a:t>
            </a:r>
          </a:p>
          <a:p>
            <a:pPr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Criação de sistema de autenticação.</a:t>
            </a:r>
          </a:p>
          <a:p>
            <a:pPr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Uso de sessões para controle de acesso.</a:t>
            </a:r>
          </a:p>
          <a:p>
            <a:pPr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Organização do projeto em arquivos reutilizáveis.</a:t>
            </a:r>
          </a:p>
          <a:p>
            <a:pPr>
              <a:spcAft>
                <a:spcPts val="1000"/>
              </a:spcAft>
              <a:defRPr sz="2000" b="0">
                <a:solidFill>
                  <a:srgbClr val="1F2937"/>
                </a:solidFill>
              </a:defRPr>
            </a:pPr>
            <a:r>
              <a:t>Testes e identificação de erros durante o desenvolvimento.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6294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9760" y="2743200"/>
            <a:ext cx="10962640" cy="19082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1800"/>
              </a:spcAft>
              <a:defRPr sz="2400">
                <a:solidFill>
                  <a:srgbClr val="DCFCE7"/>
                </a:solidFill>
              </a:defRPr>
            </a:pPr>
            <a:r>
              <a:rPr dirty="0"/>
              <a:t>O projeto reúne login, controle de acesso e CRUD em uma aplicação web conectada ao </a:t>
            </a:r>
            <a:endParaRPr lang="pt-BR" dirty="0"/>
          </a:p>
          <a:p>
            <a:pPr algn="ctr">
              <a:spcAft>
                <a:spcPts val="1800"/>
              </a:spcAft>
              <a:defRPr sz="2400">
                <a:solidFill>
                  <a:srgbClr val="DCFCE7"/>
                </a:solidFill>
              </a:defRPr>
            </a:pPr>
            <a:r>
              <a:rPr dirty="0"/>
              <a:t>banco de dados.</a:t>
            </a:r>
            <a:endParaRPr lang="pt-BR" dirty="0">
              <a:ea typeface="Calibri"/>
              <a:cs typeface="Calibri"/>
            </a:endParaRP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rPr dirty="0"/>
              <a:t>Durante o </a:t>
            </a:r>
            <a:r>
              <a:rPr dirty="0" err="1"/>
              <a:t>desenvolvimento</a:t>
            </a:r>
            <a:r>
              <a:rPr dirty="0"/>
              <a:t>, </a:t>
            </a:r>
            <a:r>
              <a:rPr dirty="0" err="1"/>
              <a:t>foram</a:t>
            </a:r>
            <a:r>
              <a:rPr dirty="0"/>
              <a:t> </a:t>
            </a:r>
            <a:r>
              <a:rPr dirty="0" err="1"/>
              <a:t>praticados</a:t>
            </a:r>
            <a:r>
              <a:rPr dirty="0"/>
              <a:t> </a:t>
            </a:r>
            <a:r>
              <a:rPr dirty="0" err="1"/>
              <a:t>conceitos</a:t>
            </a:r>
            <a:r>
              <a:rPr dirty="0"/>
              <a:t> de PHP, MySQL, </a:t>
            </a:r>
            <a:r>
              <a:rPr dirty="0" err="1"/>
              <a:t>sessões</a:t>
            </a:r>
            <a:r>
              <a:rPr dirty="0"/>
              <a:t> e </a:t>
            </a:r>
            <a:r>
              <a:rPr dirty="0" err="1"/>
              <a:t>organização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.</a:t>
            </a:r>
            <a:endParaRPr dirty="0"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51663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BBF7D0"/>
                </a:solidFill>
              </a:defRPr>
            </a:pPr>
            <a:r>
              <a:rPr dirty="0" err="1"/>
              <a:t>Obrigado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95</cp:revision>
  <dcterms:created xsi:type="dcterms:W3CDTF">2013-01-27T09:14:16Z</dcterms:created>
  <dcterms:modified xsi:type="dcterms:W3CDTF">2026-09-27T20:51:30Z</dcterms:modified>
  <cp:category/>
</cp:coreProperties>
</file>